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0" r:id="rId3"/>
    <p:sldId id="258" r:id="rId4"/>
    <p:sldId id="261" r:id="rId5"/>
    <p:sldId id="262" r:id="rId6"/>
    <p:sldId id="263" r:id="rId7"/>
    <p:sldId id="264" r:id="rId8"/>
    <p:sldId id="257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92" d="100"/>
          <a:sy n="192" d="100"/>
        </p:scale>
        <p:origin x="138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9548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C7189-4B72-5B31-CBE6-2DF0A1855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5EA1BB-36B1-722A-64C5-71F44C0B6E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884919-653D-F0F1-656E-362793D38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9271BB-B01F-A9D7-B156-9F741C12F9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0583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34718-3777-A4DA-CD73-D3E0B074F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D0B035-9C26-2E50-D77B-1A92E805F6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D64F3F-ABD3-4E31-05C2-89F078EB13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9EF3F-B72C-B212-6CE6-FEA9D98510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07509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B05EC-4B34-7B2F-D8F2-BECA1A48E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6706B5-BD6F-FB82-4EBB-59AF7B950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C9E77F-3E8E-AF46-1C34-C8F4BB1E13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71A9F-D6A4-DB6F-9B9B-DC5EEEBD83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78788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E633E-7E02-34D2-1DD2-CDB8265EA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CF7E36-C43A-CF30-7E21-0BAF4D45D3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9A6E5A-6157-7518-5CC8-78635F4F8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7B066-8FA2-FF34-0B3E-485D4286F6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0259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s.cdc.gov/" TargetMode="External"/><Relationship Id="rId5" Type="http://schemas.openxmlformats.org/officeDocument/2006/relationships/hyperlink" Target="https://data.cdc.gov/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https://www.cdc.gov/flu-burden" TargetMode="External"/><Relationship Id="rId4" Type="http://schemas.openxmlformats.org/officeDocument/2006/relationships/hyperlink" Target="https://data.cdc.gov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hyperlink" Target="https://www.cdc.gov/fluview/index.htm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0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-457200" y="-731520"/>
            <a:ext cx="6858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>
            <a:alphaModFix amt="22000"/>
          </a:blip>
          <a:stretch>
            <a:fillRect/>
          </a:stretch>
        </p:blipFill>
        <p:spPr>
          <a:xfrm>
            <a:off x="6583680" y="-1097280"/>
            <a:ext cx="3657600" cy="3657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65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452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457200" y="2606040"/>
            <a:ext cx="5029200" cy="36576"/>
          </a:xfrm>
          <a:prstGeom prst="rect">
            <a:avLst/>
          </a:prstGeom>
          <a:solidFill>
            <a:srgbClr val="FFC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457200" y="895462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the Data Say about Getting the Flu Jab?</a:t>
            </a:r>
            <a:endParaRPr lang="en-US" sz="5200" dirty="0"/>
          </a:p>
        </p:txBody>
      </p:sp>
      <p:sp>
        <p:nvSpPr>
          <p:cNvPr id="8" name="Text 4"/>
          <p:cNvSpPr/>
          <p:nvPr/>
        </p:nvSpPr>
        <p:spPr>
          <a:xfrm>
            <a:off x="457200" y="2675769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C8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analysis of CDC flu vaccine pediatric data.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57200" y="28346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4681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9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Martin Crabtree|  IS362 Final Project  |  May 17,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0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3200400" y="-457200"/>
            <a:ext cx="6400800" cy="6400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52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FFC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45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</a:rPr>
              <a:t>During the 2024-2025 flu season, 89% of children who died from the flu were unvaccinated.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36576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C8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DEBATE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65760" y="141732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sz="1300" dirty="0">
                <a:solidFill>
                  <a:srgbClr val="E8E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During the April 2026 Finance Committee hearing with HHS Secretary Robert F. Kennedy Jr., Sen. Bennet noted that </a:t>
            </a:r>
            <a:r>
              <a:rPr lang="en-US" sz="1300" b="1" dirty="0">
                <a:solidFill>
                  <a:srgbClr val="FFC8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89%</a:t>
            </a:r>
            <a:r>
              <a:rPr lang="en-US" sz="1300" dirty="0">
                <a:solidFill>
                  <a:srgbClr val="E8E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of children who died from the flu during the 2025 flu season were unvaccinated, and the flu vaccine should be recommended for children.</a:t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r>
              <a:rPr lang="en-US" sz="1300" dirty="0">
                <a:solidFill>
                  <a:srgbClr val="E8E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HHS Secretary Robert F. Kennedy Jr., defended his decision to remove flu vaccine recommendations from the HHS website because the vaccine has an efficacy as low as </a:t>
            </a:r>
            <a:r>
              <a:rPr lang="en-US" sz="1300" b="1" dirty="0">
                <a:solidFill>
                  <a:srgbClr val="FFC8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r>
              <a:rPr lang="en-US" sz="1300" dirty="0">
                <a:solidFill>
                  <a:srgbClr val="E8E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59" y="3840480"/>
            <a:ext cx="4375205" cy="868680"/>
          </a:xfrm>
          <a:prstGeom prst="rect">
            <a:avLst/>
          </a:prstGeom>
          <a:solidFill>
            <a:srgbClr val="FF653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3840480"/>
            <a:ext cx="54864" cy="868680"/>
          </a:xfrm>
          <a:prstGeom prst="rect">
            <a:avLst/>
          </a:prstGeom>
          <a:solidFill>
            <a:srgbClr val="FF65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39" y="38862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C85C"/>
                </a:solidFill>
                <a:latin typeface="Trebuchet MS" pitchFamily="34" charset="0"/>
              </a:rPr>
              <a:t>What does the CDC flu data say? </a:t>
            </a:r>
            <a:br>
              <a:rPr lang="en-US" sz="1400" i="1" dirty="0">
                <a:solidFill>
                  <a:srgbClr val="FFC85C"/>
                </a:solidFill>
                <a:latin typeface="Trebuchet MS" pitchFamily="34" charset="0"/>
              </a:rPr>
            </a:br>
            <a:r>
              <a:rPr lang="en-US" sz="1400" i="1" dirty="0">
                <a:solidFill>
                  <a:srgbClr val="FFC85C"/>
                </a:solidFill>
                <a:latin typeface="Trebuchet MS" pitchFamily="34" charset="0"/>
              </a:rPr>
              <a:t>Should flu vaccines be recommended for children?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829304" y="960120"/>
            <a:ext cx="2524152" cy="3749040"/>
          </a:xfrm>
          <a:prstGeom prst="rect">
            <a:avLst/>
          </a:prstGeom>
          <a:solidFill>
            <a:srgbClr val="452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829300" y="960119"/>
            <a:ext cx="2524152" cy="64009"/>
          </a:xfrm>
          <a:prstGeom prst="rect">
            <a:avLst/>
          </a:prstGeom>
          <a:solidFill>
            <a:srgbClr val="FFC8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A09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 Vaccine Effectiveness  | IS362 Final Project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5F7A3A0-02F9-0F1B-69E7-4DF92733B6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0" y="1024775"/>
            <a:ext cx="2524152" cy="36850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0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>
            <a:off x="5029200" y="-914400"/>
            <a:ext cx="5943600" cy="5943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0" y="0"/>
            <a:ext cx="9144000" cy="777240"/>
          </a:xfrm>
          <a:prstGeom prst="rect">
            <a:avLst/>
          </a:prstGeom>
          <a:solidFill>
            <a:srgbClr val="452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45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</a:rPr>
              <a:t>Comparing 2024-2025 to Past Flu Season Trends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FF65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927272" y="1080655"/>
            <a:ext cx="1759527" cy="1491096"/>
          </a:xfrm>
          <a:prstGeom prst="rect">
            <a:avLst/>
          </a:prstGeom>
          <a:solidFill>
            <a:srgbClr val="452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927272" y="1080654"/>
            <a:ext cx="1759527" cy="54313"/>
          </a:xfrm>
          <a:prstGeom prst="rect">
            <a:avLst/>
          </a:prstGeom>
          <a:solidFill>
            <a:srgbClr val="FF65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923808" y="1172095"/>
            <a:ext cx="1671551" cy="35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C8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50% Coverage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971259" y="1780955"/>
            <a:ext cx="1671551" cy="45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Pediatric deaths peak as vaccine coverage rises then drops off as reaches ~50% of the pediatric population.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927272" y="2648991"/>
            <a:ext cx="1759527" cy="1152715"/>
          </a:xfrm>
          <a:prstGeom prst="rect">
            <a:avLst/>
          </a:prstGeom>
          <a:solidFill>
            <a:srgbClr val="452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927272" y="2648991"/>
            <a:ext cx="1759527" cy="64008"/>
          </a:xfrm>
          <a:prstGeom prst="rect">
            <a:avLst/>
          </a:prstGeom>
          <a:solidFill>
            <a:srgbClr val="FF65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923808" y="2574365"/>
            <a:ext cx="16715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C8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 year low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923808" y="3256191"/>
            <a:ext cx="16715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E8E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~50.2% Vaccine coverage in the 2024-2025 flu season is the lowest in 15 years. 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A09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 Vaccine Effectiveness  | IS362 Final Project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26E8D16-801C-EFBE-485B-EFAA1CCC16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109" y="1068636"/>
            <a:ext cx="6522028" cy="3261014"/>
          </a:xfrm>
          <a:prstGeom prst="rect">
            <a:avLst/>
          </a:prstGeom>
        </p:spPr>
      </p:pic>
      <p:sp>
        <p:nvSpPr>
          <p:cNvPr id="25" name="Shape 9">
            <a:extLst>
              <a:ext uri="{FF2B5EF4-FFF2-40B4-BE49-F238E27FC236}">
                <a16:creationId xmlns:a16="http://schemas.microsoft.com/office/drawing/2014/main" id="{434EC534-FDD8-B3F1-4041-413F3FF73D97}"/>
              </a:ext>
            </a:extLst>
          </p:cNvPr>
          <p:cNvSpPr/>
          <p:nvPr/>
        </p:nvSpPr>
        <p:spPr>
          <a:xfrm>
            <a:off x="6930736" y="3856015"/>
            <a:ext cx="1759527" cy="990306"/>
          </a:xfrm>
          <a:prstGeom prst="rect">
            <a:avLst/>
          </a:prstGeom>
          <a:solidFill>
            <a:srgbClr val="452E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EBCA10EA-28C5-10B0-0BA4-1EAA82E9CBD4}"/>
              </a:ext>
            </a:extLst>
          </p:cNvPr>
          <p:cNvSpPr/>
          <p:nvPr/>
        </p:nvSpPr>
        <p:spPr>
          <a:xfrm>
            <a:off x="6930736" y="3856014"/>
            <a:ext cx="1759527" cy="64008"/>
          </a:xfrm>
          <a:prstGeom prst="rect">
            <a:avLst/>
          </a:prstGeom>
          <a:solidFill>
            <a:srgbClr val="FF65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D2C1E4A2-BCAE-EB13-7A02-BE6FFFC5B821}"/>
              </a:ext>
            </a:extLst>
          </p:cNvPr>
          <p:cNvSpPr/>
          <p:nvPr/>
        </p:nvSpPr>
        <p:spPr>
          <a:xfrm>
            <a:off x="6927272" y="3781388"/>
            <a:ext cx="16715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C8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297 deaths</a:t>
            </a:r>
            <a:endParaRPr lang="en-US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5CE5D9CC-227E-FED3-8A3D-AB690DAAC3A1}"/>
              </a:ext>
            </a:extLst>
          </p:cNvPr>
          <p:cNvSpPr/>
          <p:nvPr/>
        </p:nvSpPr>
        <p:spPr>
          <a:xfrm>
            <a:off x="6927272" y="4370854"/>
            <a:ext cx="16715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E8E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2024-2025</a:t>
            </a:r>
            <a:r>
              <a:rPr lang="en-US" sz="1100" dirty="0">
                <a:solidFill>
                  <a:srgbClr val="E8E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saw a </a:t>
            </a:r>
            <a:r>
              <a:rPr lang="en-US" sz="1100" b="1" dirty="0">
                <a:solidFill>
                  <a:srgbClr val="E8E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</a:t>
            </a:r>
            <a:r>
              <a:rPr lang="en-US" sz="1100" dirty="0">
                <a:solidFill>
                  <a:srgbClr val="E8E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of </a:t>
            </a:r>
            <a:r>
              <a:rPr lang="en-US" sz="1100" b="1" dirty="0">
                <a:solidFill>
                  <a:srgbClr val="E8E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297</a:t>
            </a:r>
            <a:r>
              <a:rPr lang="en-US" sz="1100" dirty="0">
                <a:solidFill>
                  <a:srgbClr val="E8E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flu-associated pediatric deaths</a:t>
            </a:r>
            <a:endParaRPr lang="en-US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073D80-38E4-96C9-9AD6-1B028426CADF}"/>
              </a:ext>
            </a:extLst>
          </p:cNvPr>
          <p:cNvSpPr txBox="1"/>
          <p:nvPr/>
        </p:nvSpPr>
        <p:spPr>
          <a:xfrm>
            <a:off x="393125" y="4336131"/>
            <a:ext cx="62577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E8E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 1: 2020-2022 saw abnormally low cases of flu due to Covid-19 pandemic precautions.</a:t>
            </a:r>
            <a:br>
              <a:rPr lang="en-US" sz="1000" dirty="0">
                <a:solidFill>
                  <a:srgbClr val="E8E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</a:br>
            <a:r>
              <a:rPr lang="en-US" sz="1000" dirty="0">
                <a:solidFill>
                  <a:srgbClr val="E8E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 2: The pediatric age group is age &lt; 18, however the flu vaccine is not given to &lt; 6 months of age.</a:t>
            </a:r>
            <a:endParaRPr lang="en-US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C83DE5-6D7E-7CC6-B4A7-71A6BB8F4F96}"/>
              </a:ext>
            </a:extLst>
          </p:cNvPr>
          <p:cNvSpPr txBox="1"/>
          <p:nvPr/>
        </p:nvSpPr>
        <p:spPr>
          <a:xfrm>
            <a:off x="136475" y="4659643"/>
            <a:ext cx="677104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C85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retrieved from the CDC data API at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C85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https://data.cdc.gov/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C85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&amp; CDC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FFC85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FluView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C85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Interactive Dashboard  </a:t>
            </a:r>
            <a:r>
              <a:rPr lang="en-US" sz="1050" dirty="0">
                <a:solidFill>
                  <a:srgbClr val="FFC85C"/>
                </a:solidFill>
                <a:latin typeface="Calibri" panose="020F0502020204030204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https://gis.cdc.gov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C85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04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675F5A-EDF7-76BD-D855-62299F546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E2A8B5C-042E-758E-57DD-5ABD43F8720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>
            <a:off x="5029200" y="-914400"/>
            <a:ext cx="5943600" cy="59436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81B2734C-7366-13D3-7309-08A0A7E15634}"/>
              </a:ext>
            </a:extLst>
          </p:cNvPr>
          <p:cNvSpPr/>
          <p:nvPr/>
        </p:nvSpPr>
        <p:spPr>
          <a:xfrm>
            <a:off x="460" y="0"/>
            <a:ext cx="9144000" cy="777240"/>
          </a:xfrm>
          <a:prstGeom prst="rect">
            <a:avLst/>
          </a:prstGeom>
          <a:solidFill>
            <a:srgbClr val="452E5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AB3DE53-E244-C23C-5BC9-F7CE7E3894BE}"/>
              </a:ext>
            </a:extLst>
          </p:cNvPr>
          <p:cNvSpPr/>
          <p:nvPr/>
        </p:nvSpPr>
        <p:spPr>
          <a:xfrm>
            <a:off x="457199" y="45720"/>
            <a:ext cx="81003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Does Flu Vaccine Coverage </a:t>
            </a: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</a:rPr>
              <a:t>Impact Hospitalizations?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066BF256-EC97-B104-142F-162BC45132AF}"/>
              </a:ext>
            </a:extLst>
          </p:cNvPr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FF653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A5F01CF0-7BC9-ED40-F3C2-8CB7CBC2DD4A}"/>
              </a:ext>
            </a:extLst>
          </p:cNvPr>
          <p:cNvSpPr/>
          <p:nvPr/>
        </p:nvSpPr>
        <p:spPr>
          <a:xfrm>
            <a:off x="6927272" y="1080656"/>
            <a:ext cx="1759527" cy="1204976"/>
          </a:xfrm>
          <a:prstGeom prst="rect">
            <a:avLst/>
          </a:prstGeom>
          <a:solidFill>
            <a:srgbClr val="452E5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DFEA418-4B91-7514-8613-391C39A148AC}"/>
              </a:ext>
            </a:extLst>
          </p:cNvPr>
          <p:cNvSpPr/>
          <p:nvPr/>
        </p:nvSpPr>
        <p:spPr>
          <a:xfrm>
            <a:off x="6923808" y="1172095"/>
            <a:ext cx="1671551" cy="35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FFC85C"/>
                </a:solidFill>
                <a:latin typeface="Trebuchet MS" pitchFamily="34" charset="0"/>
              </a:rPr>
              <a:t>No…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FD394AB-581C-00FD-EF5D-E755CC9DBFAD}"/>
              </a:ext>
            </a:extLst>
          </p:cNvPr>
          <p:cNvSpPr/>
          <p:nvPr/>
        </p:nvSpPr>
        <p:spPr>
          <a:xfrm>
            <a:off x="6971259" y="1641800"/>
            <a:ext cx="1671551" cy="45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8E0F5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short answer is no. The flu vaccine does not determine flu related hospitalization rates.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97DE69CE-A584-63C8-3C4D-6DD30687F8FB}"/>
              </a:ext>
            </a:extLst>
          </p:cNvPr>
          <p:cNvSpPr/>
          <p:nvPr/>
        </p:nvSpPr>
        <p:spPr>
          <a:xfrm>
            <a:off x="6927272" y="2410452"/>
            <a:ext cx="1759527" cy="1204976"/>
          </a:xfrm>
          <a:prstGeom prst="rect">
            <a:avLst/>
          </a:prstGeom>
          <a:solidFill>
            <a:srgbClr val="452E5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ECCFAD5F-27B0-9754-4397-EC6961CF4E18}"/>
              </a:ext>
            </a:extLst>
          </p:cNvPr>
          <p:cNvSpPr/>
          <p:nvPr/>
        </p:nvSpPr>
        <p:spPr>
          <a:xfrm>
            <a:off x="6927272" y="2410452"/>
            <a:ext cx="1759527" cy="64008"/>
          </a:xfrm>
          <a:prstGeom prst="rect">
            <a:avLst/>
          </a:prstGeom>
          <a:solidFill>
            <a:srgbClr val="FF653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7EB9F694-4E40-C468-0E68-91C117F4821B}"/>
              </a:ext>
            </a:extLst>
          </p:cNvPr>
          <p:cNvSpPr/>
          <p:nvPr/>
        </p:nvSpPr>
        <p:spPr>
          <a:xfrm>
            <a:off x="6923808" y="2335826"/>
            <a:ext cx="16715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C85C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Fewer Deaths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A23832C-534C-F0D0-776C-402FBB3EF698}"/>
              </a:ext>
            </a:extLst>
          </p:cNvPr>
          <p:cNvSpPr/>
          <p:nvPr/>
        </p:nvSpPr>
        <p:spPr>
          <a:xfrm>
            <a:off x="6923808" y="3017652"/>
            <a:ext cx="16715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E8E0F5"/>
                </a:solidFill>
                <a:latin typeface="Trebuchet MS" pitchFamily="34" charset="0"/>
              </a:rPr>
              <a:t>Referencing the previous slide, there are fewer deaths per hospital stay with a higher vaccination rate.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BD7ADE35-67AC-9242-6FAF-9C91E3A2C6CC}"/>
              </a:ext>
            </a:extLst>
          </p:cNvPr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A09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 Vaccine Effectiveness  | IS362 Final Project</a:t>
            </a:r>
            <a:endParaRPr lang="en-US" sz="9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CB5CB0-97A0-EB2F-C369-A6A68F7133DC}"/>
              </a:ext>
            </a:extLst>
          </p:cNvPr>
          <p:cNvSpPr txBox="1"/>
          <p:nvPr/>
        </p:nvSpPr>
        <p:spPr>
          <a:xfrm>
            <a:off x="159687" y="4584678"/>
            <a:ext cx="677104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C85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retrieved from the CDC data API at 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C85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https://data.cdc.gov/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C85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&amp; CDC Flu burden </a:t>
            </a:r>
            <a:r>
              <a:rPr lang="en-US" sz="1050" dirty="0">
                <a:solidFill>
                  <a:srgbClr val="FFC85C"/>
                </a:solidFill>
                <a:latin typeface="Calibri" panose="020F0502020204030204"/>
              </a:rPr>
              <a:t>d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FFC85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ata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C85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r>
              <a:rPr lang="en-US" sz="1050" dirty="0">
                <a:solidFill>
                  <a:srgbClr val="FFC85C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https://www.cdc.gov/flu-burden</a:t>
            </a:r>
            <a:r>
              <a:rPr lang="en-US" sz="1050" dirty="0">
                <a:solidFill>
                  <a:srgbClr val="FFC85C"/>
                </a:solidFill>
              </a:rPr>
              <a:t> 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FFC85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864ED8-D9DE-46E6-4057-6684129032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19" y="1075322"/>
            <a:ext cx="6519672" cy="3259836"/>
          </a:xfrm>
          <a:prstGeom prst="rect">
            <a:avLst/>
          </a:prstGeom>
        </p:spPr>
      </p:pic>
      <p:sp>
        <p:nvSpPr>
          <p:cNvPr id="17" name="Shape 10">
            <a:extLst>
              <a:ext uri="{FF2B5EF4-FFF2-40B4-BE49-F238E27FC236}">
                <a16:creationId xmlns:a16="http://schemas.microsoft.com/office/drawing/2014/main" id="{EA9FF711-E7C8-8E5E-0238-287FF04F4998}"/>
              </a:ext>
            </a:extLst>
          </p:cNvPr>
          <p:cNvSpPr/>
          <p:nvPr/>
        </p:nvSpPr>
        <p:spPr>
          <a:xfrm>
            <a:off x="6930736" y="1082571"/>
            <a:ext cx="1759527" cy="64008"/>
          </a:xfrm>
          <a:prstGeom prst="rect">
            <a:avLst/>
          </a:prstGeom>
          <a:solidFill>
            <a:srgbClr val="FF653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7622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04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98520B-7EFF-0820-F038-50F8B627E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35E2267-FA41-3CBD-0313-D8BD0F6845B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>
            <a:off x="5029200" y="-914400"/>
            <a:ext cx="5943600" cy="59436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3DA13F71-94A0-D567-B943-68735036E099}"/>
              </a:ext>
            </a:extLst>
          </p:cNvPr>
          <p:cNvSpPr/>
          <p:nvPr/>
        </p:nvSpPr>
        <p:spPr>
          <a:xfrm>
            <a:off x="460" y="0"/>
            <a:ext cx="9144000" cy="777240"/>
          </a:xfrm>
          <a:prstGeom prst="rect">
            <a:avLst/>
          </a:prstGeom>
          <a:solidFill>
            <a:srgbClr val="452E5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5FA073C-8256-CA43-126A-CF592DBEEF23}"/>
              </a:ext>
            </a:extLst>
          </p:cNvPr>
          <p:cNvSpPr/>
          <p:nvPr/>
        </p:nvSpPr>
        <p:spPr>
          <a:xfrm>
            <a:off x="457199" y="45720"/>
            <a:ext cx="81003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2025-2026 Preliminary Data Trends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07672B6-D7E7-2F37-11FD-157BA82A6CA7}"/>
              </a:ext>
            </a:extLst>
          </p:cNvPr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FF653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A829C5E6-74BF-4D1D-1B74-629EB151B843}"/>
              </a:ext>
            </a:extLst>
          </p:cNvPr>
          <p:cNvSpPr/>
          <p:nvPr/>
        </p:nvSpPr>
        <p:spPr>
          <a:xfrm>
            <a:off x="6927272" y="951440"/>
            <a:ext cx="1759527" cy="1481039"/>
          </a:xfrm>
          <a:prstGeom prst="rect">
            <a:avLst/>
          </a:prstGeom>
          <a:solidFill>
            <a:srgbClr val="452E5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8CD24EA-8B79-DC86-F836-45B45C91566C}"/>
              </a:ext>
            </a:extLst>
          </p:cNvPr>
          <p:cNvSpPr/>
          <p:nvPr/>
        </p:nvSpPr>
        <p:spPr>
          <a:xfrm>
            <a:off x="6923808" y="1162160"/>
            <a:ext cx="1671551" cy="3550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C85C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2 Different Outcomes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B826B880-5448-9DE0-A7DB-5F5195A5AA0E}"/>
              </a:ext>
            </a:extLst>
          </p:cNvPr>
          <p:cNvSpPr/>
          <p:nvPr/>
        </p:nvSpPr>
        <p:spPr>
          <a:xfrm>
            <a:off x="6971259" y="1771008"/>
            <a:ext cx="1671551" cy="45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E8E0F5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Despite similar vaccination coverage, there are much fewer pediatric deaths in 2026.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B9A839DC-5047-6541-7677-372A41A3C68D}"/>
              </a:ext>
            </a:extLst>
          </p:cNvPr>
          <p:cNvSpPr/>
          <p:nvPr/>
        </p:nvSpPr>
        <p:spPr>
          <a:xfrm>
            <a:off x="6927272" y="2569477"/>
            <a:ext cx="1759527" cy="2099562"/>
          </a:xfrm>
          <a:prstGeom prst="rect">
            <a:avLst/>
          </a:prstGeom>
          <a:solidFill>
            <a:srgbClr val="452E5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7F38F6F8-D089-9E54-955E-F48DA330EAD5}"/>
              </a:ext>
            </a:extLst>
          </p:cNvPr>
          <p:cNvSpPr/>
          <p:nvPr/>
        </p:nvSpPr>
        <p:spPr>
          <a:xfrm>
            <a:off x="6927272" y="2569477"/>
            <a:ext cx="1759527" cy="64008"/>
          </a:xfrm>
          <a:prstGeom prst="rect">
            <a:avLst/>
          </a:prstGeom>
          <a:solidFill>
            <a:srgbClr val="FF653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F23AFAE-1B73-0300-C855-F6C12F15C104}"/>
              </a:ext>
            </a:extLst>
          </p:cNvPr>
          <p:cNvSpPr/>
          <p:nvPr/>
        </p:nvSpPr>
        <p:spPr>
          <a:xfrm>
            <a:off x="6923808" y="2494851"/>
            <a:ext cx="16715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C85C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4690FA9-782B-52F2-83F3-5F08BC67F7E9}"/>
              </a:ext>
            </a:extLst>
          </p:cNvPr>
          <p:cNvSpPr/>
          <p:nvPr/>
        </p:nvSpPr>
        <p:spPr>
          <a:xfrm>
            <a:off x="6996109" y="3609039"/>
            <a:ext cx="16241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Two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 Primary factors: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Virus strain matters. Years when H1N1 and H3N2 are the dominant strain deaths tend to be higher. 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00" dirty="0">
                <a:solidFill>
                  <a:schemeClr val="bg1"/>
                </a:solidFill>
                <a:latin typeface="Calibri" panose="020F0502020204030204"/>
              </a:rPr>
              <a:t>The flu vaccine is different each year with variable effectiveness.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C396AE71-7D6A-5007-EB54-E8911B6D034E}"/>
              </a:ext>
            </a:extLst>
          </p:cNvPr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090C8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 Vaccine Effectiveness  | IS362 Final Project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726FF5-59FF-CE6B-BFB5-3A9D067CDE20}"/>
              </a:ext>
            </a:extLst>
          </p:cNvPr>
          <p:cNvSpPr txBox="1"/>
          <p:nvPr/>
        </p:nvSpPr>
        <p:spPr>
          <a:xfrm>
            <a:off x="228302" y="4695722"/>
            <a:ext cx="677104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C85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scraped from CDC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FFC85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FluView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FFC85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en-US" sz="1050" dirty="0">
                <a:solidFill>
                  <a:srgbClr val="FFC85C"/>
                </a:solidFill>
              </a:rPr>
              <a:t>weekly reports </a:t>
            </a:r>
            <a:r>
              <a:rPr lang="en-US" sz="1050" dirty="0">
                <a:solidFill>
                  <a:srgbClr val="FFC85C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https://www.cdc.gov/fluview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FFC85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38590E48-6CA6-3DB4-AC78-8CFB724AE338}"/>
              </a:ext>
            </a:extLst>
          </p:cNvPr>
          <p:cNvSpPr/>
          <p:nvPr/>
        </p:nvSpPr>
        <p:spPr>
          <a:xfrm>
            <a:off x="6930736" y="953356"/>
            <a:ext cx="1759527" cy="64008"/>
          </a:xfrm>
          <a:prstGeom prst="rect">
            <a:avLst/>
          </a:prstGeom>
          <a:solidFill>
            <a:srgbClr val="FF653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A0F6BED-339A-2BBC-5C5B-2B11D02129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050" y="922664"/>
            <a:ext cx="6340019" cy="374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350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04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5C0FD4-C8E9-B7E4-D598-15B4A82DC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FCC06E4-DE49-0C95-BFCD-38DAD020BCB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3200400" y="-457200"/>
            <a:ext cx="6400800" cy="64008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588DC6BF-ECED-5853-DDAE-4C982932DCF2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52E5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A240928C-CF15-6F26-1C6F-59BC3574B552}"/>
              </a:ext>
            </a:extLst>
          </p:cNvPr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FFC8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9BA7CC9-29EF-E85E-5AF1-F8E3FAC53B4D}"/>
              </a:ext>
            </a:extLst>
          </p:cNvPr>
          <p:cNvSpPr/>
          <p:nvPr/>
        </p:nvSpPr>
        <p:spPr>
          <a:xfrm>
            <a:off x="457200" y="45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Who Was Correct?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06BB71A-28C1-39FC-9107-CA1154A3AA29}"/>
              </a:ext>
            </a:extLst>
          </p:cNvPr>
          <p:cNvSpPr/>
          <p:nvPr/>
        </p:nvSpPr>
        <p:spPr>
          <a:xfrm>
            <a:off x="36576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400" normalizeH="0" baseline="0" noProof="0" dirty="0">
                <a:ln>
                  <a:noFill/>
                </a:ln>
                <a:solidFill>
                  <a:srgbClr val="FFC85C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RESOLUTION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68EF096-3A29-52FA-1312-32971DC03F16}"/>
              </a:ext>
            </a:extLst>
          </p:cNvPr>
          <p:cNvSpPr/>
          <p:nvPr/>
        </p:nvSpPr>
        <p:spPr>
          <a:xfrm>
            <a:off x="365760" y="141732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8E0F5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During the April 2026 Finance Committee hearing with HHS Secretary Robert F. Kennedy Jr., Sen. Bennet noted that 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C85C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89%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8E0F5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of children who died from the flu during the 2025 flu season were unvaccinated, and the flu vaccine should</a:t>
            </a:r>
            <a:r>
              <a:rPr lang="en-US" sz="1300" dirty="0">
                <a:solidFill>
                  <a:srgbClr val="E8E0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be recommended for children.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E8E0F5"/>
              </a:solidFill>
              <a:effectLst/>
              <a:uLnTx/>
              <a:uFillTx/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8E0F5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HHS Secretary Robert F. Kennedy Jr., defended his decision to remove flu vaccine recommendations from the HHS website because the vaccine has an efficacy as low as 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C85C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E8E0F5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B15170D-7A81-222B-457F-4B49C2B1970F}"/>
              </a:ext>
            </a:extLst>
          </p:cNvPr>
          <p:cNvSpPr/>
          <p:nvPr/>
        </p:nvSpPr>
        <p:spPr>
          <a:xfrm>
            <a:off x="365760" y="3840480"/>
            <a:ext cx="4114800" cy="868680"/>
          </a:xfrm>
          <a:prstGeom prst="rect">
            <a:avLst/>
          </a:prstGeom>
          <a:solidFill>
            <a:srgbClr val="FF653F">
              <a:alpha val="2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11F68E2-EC43-9A78-94E7-C667AF3E3405}"/>
              </a:ext>
            </a:extLst>
          </p:cNvPr>
          <p:cNvSpPr/>
          <p:nvPr/>
        </p:nvSpPr>
        <p:spPr>
          <a:xfrm>
            <a:off x="365760" y="3840480"/>
            <a:ext cx="54864" cy="868680"/>
          </a:xfrm>
          <a:prstGeom prst="rect">
            <a:avLst/>
          </a:prstGeom>
          <a:solidFill>
            <a:srgbClr val="FF653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ECD09E7-1931-A6B8-11DC-BABACC31FF15}"/>
              </a:ext>
            </a:extLst>
          </p:cNvPr>
          <p:cNvSpPr/>
          <p:nvPr/>
        </p:nvSpPr>
        <p:spPr>
          <a:xfrm>
            <a:off x="548640" y="38862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FFC85C"/>
                </a:solidFill>
                <a:latin typeface="Trebuchet MS" pitchFamily="34" charset="0"/>
              </a:rPr>
              <a:t>The data shows that the flu vaccine lowers overall pediatric influenza deaths, and should be recommended for children.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246C59BE-BAF9-C451-46BB-7A0886193B2D}"/>
              </a:ext>
            </a:extLst>
          </p:cNvPr>
          <p:cNvSpPr/>
          <p:nvPr/>
        </p:nvSpPr>
        <p:spPr>
          <a:xfrm>
            <a:off x="5307496" y="960120"/>
            <a:ext cx="3562184" cy="3749040"/>
          </a:xfrm>
          <a:prstGeom prst="rect">
            <a:avLst/>
          </a:prstGeom>
          <a:solidFill>
            <a:srgbClr val="452E5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</a:rPr>
            </a:b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</a:rPr>
            </a:b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</a:rPr>
            </a:b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</a:rPr>
              <a:t>Senator Bennet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</a:rPr>
              <a:t>was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</a:rPr>
              <a:t>correct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rebuchet MS" panose="020B0603020202020204" pitchFamily="34" charset="0"/>
              </a:rPr>
              <a:t> in his statements the 2025 flu season saw the most flu related pediatric deaths </a:t>
            </a:r>
            <a:r>
              <a:rPr lang="en-US" sz="1400" dirty="0">
                <a:solidFill>
                  <a:schemeClr val="bg1"/>
                </a:solidFill>
                <a:latin typeface="Trebuchet MS" panose="020B0603020202020204" pitchFamily="34" charset="0"/>
              </a:rPr>
              <a:t>within the past 15 years while also hitting a 15 year low in flu vaccination coverage.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anose="020B0603020202020204" pitchFamily="34" charset="0"/>
            </a:endParaRPr>
          </a:p>
          <a:p>
            <a:r>
              <a:rPr lang="en-US" sz="1400" dirty="0">
                <a:solidFill>
                  <a:srgbClr val="E8E0F5"/>
                </a:solidFill>
                <a:latin typeface="Trebuchet MS" panose="020B0603020202020204" pitchFamily="34" charset="0"/>
                <a:ea typeface="Trebuchet MS" pitchFamily="34" charset="-122"/>
                <a:cs typeface="Trebuchet MS" pitchFamily="34" charset="-120"/>
              </a:rPr>
              <a:t>Even though it is true  that the flu vaccine can have low efficacy some years, </a:t>
            </a:r>
            <a:r>
              <a:rPr lang="en-US" sz="1400" b="1" dirty="0">
                <a:solidFill>
                  <a:srgbClr val="E8E0F5"/>
                </a:solidFill>
                <a:latin typeface="Trebuchet MS" panose="020B0603020202020204" pitchFamily="34" charset="0"/>
                <a:ea typeface="Trebuchet MS" pitchFamily="34" charset="-122"/>
                <a:cs typeface="Trebuchet MS" pitchFamily="34" charset="-120"/>
              </a:rPr>
              <a:t>HHS Secretary RFK Jr., </a:t>
            </a:r>
            <a:r>
              <a:rPr lang="en-US" sz="1400" dirty="0">
                <a:solidFill>
                  <a:srgbClr val="E8E0F5"/>
                </a:solidFill>
                <a:latin typeface="Trebuchet MS" panose="020B0603020202020204" pitchFamily="34" charset="0"/>
                <a:ea typeface="Trebuchet MS" pitchFamily="34" charset="-122"/>
                <a:cs typeface="Trebuchet MS" pitchFamily="34" charset="-120"/>
              </a:rPr>
              <a:t>did </a:t>
            </a:r>
            <a:r>
              <a:rPr lang="en-US" sz="1400" b="1" dirty="0">
                <a:solidFill>
                  <a:srgbClr val="E8E0F5"/>
                </a:solidFill>
                <a:latin typeface="Trebuchet MS" panose="020B0603020202020204" pitchFamily="34" charset="0"/>
                <a:ea typeface="Trebuchet MS" pitchFamily="34" charset="-122"/>
                <a:cs typeface="Trebuchet MS" pitchFamily="34" charset="-120"/>
              </a:rPr>
              <a:t>not</a:t>
            </a:r>
            <a:r>
              <a:rPr lang="en-US" sz="1400" dirty="0">
                <a:solidFill>
                  <a:srgbClr val="E8E0F5"/>
                </a:solidFill>
                <a:latin typeface="Trebuchet MS" panose="020B0603020202020204" pitchFamily="34" charset="0"/>
                <a:ea typeface="Trebuchet MS" pitchFamily="34" charset="-122"/>
                <a:cs typeface="Trebuchet MS" pitchFamily="34" charset="-120"/>
              </a:rPr>
              <a:t> take into account data demonstrating that the flu vaccine is effective at consistently lowering pediatric mortality rates.</a:t>
            </a:r>
            <a:endParaRPr lang="en-US" sz="1400" dirty="0">
              <a:solidFill>
                <a:prstClr val="black"/>
              </a:solidFill>
              <a:latin typeface="Trebuchet MS" panose="020B0603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rebuchet MS" panose="020B0603020202020204" pitchFamily="34" charset="0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8249EA79-8D91-6F55-E3F5-BA0B3E4702A5}"/>
              </a:ext>
            </a:extLst>
          </p:cNvPr>
          <p:cNvSpPr/>
          <p:nvPr/>
        </p:nvSpPr>
        <p:spPr>
          <a:xfrm>
            <a:off x="5307496" y="960119"/>
            <a:ext cx="3562184" cy="64009"/>
          </a:xfrm>
          <a:prstGeom prst="rect">
            <a:avLst/>
          </a:prstGeom>
          <a:solidFill>
            <a:srgbClr val="FFC8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8D3ACCBD-DAF2-6022-801C-9EAA708AB868}"/>
              </a:ext>
            </a:extLst>
          </p:cNvPr>
          <p:cNvSpPr/>
          <p:nvPr/>
        </p:nvSpPr>
        <p:spPr>
          <a:xfrm>
            <a:off x="5541060" y="960120"/>
            <a:ext cx="32371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901CC30A-BE37-CFF4-B608-38F1D9255F24}"/>
              </a:ext>
            </a:extLst>
          </p:cNvPr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090C8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 Vaccine Effectiveness  | IS362 Final Project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Graphic 18" descr="Badge Tick1 with solid fill">
            <a:extLst>
              <a:ext uri="{FF2B5EF4-FFF2-40B4-BE49-F238E27FC236}">
                <a16:creationId xmlns:a16="http://schemas.microsoft.com/office/drawing/2014/main" id="{31E9AA95-24BC-2163-F6B3-9254CD909E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98060" y="1453593"/>
            <a:ext cx="777240" cy="777240"/>
          </a:xfrm>
          <a:prstGeom prst="rect">
            <a:avLst/>
          </a:prstGeom>
        </p:spPr>
      </p:pic>
      <p:pic>
        <p:nvPicPr>
          <p:cNvPr id="20" name="Graphic 19" descr="Badge Tick1 with solid fill">
            <a:extLst>
              <a:ext uri="{FF2B5EF4-FFF2-40B4-BE49-F238E27FC236}">
                <a16:creationId xmlns:a16="http://schemas.microsoft.com/office/drawing/2014/main" id="{9DD3ECCE-1B02-93B3-84EE-24EF4B542C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98060" y="2815262"/>
            <a:ext cx="777240" cy="777240"/>
          </a:xfrm>
          <a:prstGeom prst="rect">
            <a:avLst/>
          </a:prstGeom>
        </p:spPr>
      </p:pic>
      <p:pic>
        <p:nvPicPr>
          <p:cNvPr id="22" name="Graphic 21" descr="Immunity with solid fill">
            <a:extLst>
              <a:ext uri="{FF2B5EF4-FFF2-40B4-BE49-F238E27FC236}">
                <a16:creationId xmlns:a16="http://schemas.microsoft.com/office/drawing/2014/main" id="{A9B59F49-3124-3A96-3D5F-43A77C7865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3264" y="1024128"/>
            <a:ext cx="710648" cy="71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949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04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D7D0B3-966C-1D74-67D1-0FF82EE87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45613463-8377-B623-46A2-4984518D33B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3200400" y="-457200"/>
            <a:ext cx="6400800" cy="64008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10773AA7-FC78-FD4A-C6E8-311CB9C9DE1E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52E5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A55A289E-F215-66EF-33F7-85A32E713A3E}"/>
              </a:ext>
            </a:extLst>
          </p:cNvPr>
          <p:cNvSpPr/>
          <p:nvPr/>
        </p:nvSpPr>
        <p:spPr>
          <a:xfrm>
            <a:off x="0" y="0"/>
            <a:ext cx="54864" cy="777240"/>
          </a:xfrm>
          <a:prstGeom prst="rect">
            <a:avLst/>
          </a:prstGeom>
          <a:solidFill>
            <a:srgbClr val="FFC8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B606585-4CD1-FDF3-B7F3-8224B9C40E97}"/>
              </a:ext>
            </a:extLst>
          </p:cNvPr>
          <p:cNvSpPr/>
          <p:nvPr/>
        </p:nvSpPr>
        <p:spPr>
          <a:xfrm>
            <a:off x="457200" y="45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Primary Challenge: </a:t>
            </a:r>
            <a:b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</a:b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Scraping the CDC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FluView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 weekly reports 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20277523-C50E-AAA7-9C66-21909E1C3C80}"/>
              </a:ext>
            </a:extLst>
          </p:cNvPr>
          <p:cNvSpPr/>
          <p:nvPr/>
        </p:nvSpPr>
        <p:spPr>
          <a:xfrm>
            <a:off x="365760" y="95614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400" normalizeH="0" baseline="0" noProof="0" dirty="0">
                <a:ln>
                  <a:noFill/>
                </a:ln>
                <a:solidFill>
                  <a:srgbClr val="FFC85C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CHALLENGES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C8B77955-D4AA-4FB0-5B3C-5B6B1DD2598A}"/>
              </a:ext>
            </a:extLst>
          </p:cNvPr>
          <p:cNvSpPr/>
          <p:nvPr/>
        </p:nvSpPr>
        <p:spPr>
          <a:xfrm>
            <a:off x="365760" y="1296044"/>
            <a:ext cx="5458570" cy="997204"/>
          </a:xfrm>
          <a:prstGeom prst="rect">
            <a:avLst/>
          </a:prstGeom>
          <a:solidFill>
            <a:srgbClr val="FF653F">
              <a:alpha val="2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4C14CDB7-F285-432F-560E-BC40B53DA8E7}"/>
              </a:ext>
            </a:extLst>
          </p:cNvPr>
          <p:cNvSpPr/>
          <p:nvPr/>
        </p:nvSpPr>
        <p:spPr>
          <a:xfrm>
            <a:off x="368740" y="1296044"/>
            <a:ext cx="45719" cy="997204"/>
          </a:xfrm>
          <a:prstGeom prst="rect">
            <a:avLst/>
          </a:prstGeom>
          <a:solidFill>
            <a:srgbClr val="FF653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A9FE8C5-9FD3-C2D6-46D7-2E661813C055}"/>
              </a:ext>
            </a:extLst>
          </p:cNvPr>
          <p:cNvSpPr/>
          <p:nvPr/>
        </p:nvSpPr>
        <p:spPr>
          <a:xfrm>
            <a:off x="548638" y="1386494"/>
            <a:ext cx="51340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FFC85C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Client side rendering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FC85C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: The data for the </a:t>
            </a:r>
            <a:r>
              <a:rPr kumimoji="0" lang="en-US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FFC85C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FluView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FC85C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 report pages load a template and then retrieve data using </a:t>
            </a:r>
            <a:r>
              <a:rPr kumimoji="0" lang="en-US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FFC85C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javascript</a:t>
            </a:r>
            <a:r>
              <a:rPr lang="en-US" sz="1200" i="1" dirty="0">
                <a:solidFill>
                  <a:srgbClr val="FFC85C"/>
                </a:solidFill>
                <a:latin typeface="Trebuchet MS" pitchFamily="34" charset="0"/>
              </a:rPr>
              <a:t>. To fix this issue a selenium background browser is used to render the page and load the data, so that </a:t>
            </a:r>
            <a:r>
              <a:rPr lang="en-US" sz="1200" i="1" dirty="0" err="1">
                <a:solidFill>
                  <a:srgbClr val="FFC85C"/>
                </a:solidFill>
                <a:latin typeface="Trebuchet MS" pitchFamily="34" charset="0"/>
              </a:rPr>
              <a:t>BeautifulSoup</a:t>
            </a:r>
            <a:r>
              <a:rPr lang="en-US" sz="1200" i="1" dirty="0">
                <a:solidFill>
                  <a:srgbClr val="FFC85C"/>
                </a:solidFill>
                <a:latin typeface="Trebuchet MS" pitchFamily="34" charset="0"/>
              </a:rPr>
              <a:t> could scrape the data.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2CF6BFD6-6605-4952-EFC6-18BCE1DE432C}"/>
              </a:ext>
            </a:extLst>
          </p:cNvPr>
          <p:cNvSpPr/>
          <p:nvPr/>
        </p:nvSpPr>
        <p:spPr>
          <a:xfrm>
            <a:off x="6181141" y="999154"/>
            <a:ext cx="2723327" cy="2051864"/>
          </a:xfrm>
          <a:prstGeom prst="rect">
            <a:avLst/>
          </a:prstGeom>
          <a:solidFill>
            <a:srgbClr val="452E5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25146B5D-F167-E359-ED21-A76DB6C63946}"/>
              </a:ext>
            </a:extLst>
          </p:cNvPr>
          <p:cNvSpPr/>
          <p:nvPr/>
        </p:nvSpPr>
        <p:spPr>
          <a:xfrm>
            <a:off x="6046962" y="1170643"/>
            <a:ext cx="2723327" cy="64009"/>
          </a:xfrm>
          <a:prstGeom prst="rect">
            <a:avLst/>
          </a:prstGeom>
          <a:solidFill>
            <a:srgbClr val="FFC8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538A827-37FC-9A92-02F3-CC20D0BD21A8}"/>
              </a:ext>
            </a:extLst>
          </p:cNvPr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090C8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 Vaccine Effectiveness  | IS362 Final Project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FAD1323-33C6-1643-78A0-E956BA0887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6962" y="1234652"/>
            <a:ext cx="2714277" cy="2043691"/>
          </a:xfrm>
          <a:prstGeom prst="rect">
            <a:avLst/>
          </a:prstGeom>
        </p:spPr>
      </p:pic>
      <p:sp>
        <p:nvSpPr>
          <p:cNvPr id="17" name="Shape 5">
            <a:extLst>
              <a:ext uri="{FF2B5EF4-FFF2-40B4-BE49-F238E27FC236}">
                <a16:creationId xmlns:a16="http://schemas.microsoft.com/office/drawing/2014/main" id="{39613C58-03C1-3DC8-996F-14E5925B485A}"/>
              </a:ext>
            </a:extLst>
          </p:cNvPr>
          <p:cNvSpPr/>
          <p:nvPr/>
        </p:nvSpPr>
        <p:spPr>
          <a:xfrm>
            <a:off x="365760" y="2392799"/>
            <a:ext cx="5458570" cy="1521229"/>
          </a:xfrm>
          <a:prstGeom prst="rect">
            <a:avLst/>
          </a:prstGeom>
          <a:solidFill>
            <a:srgbClr val="FF653F">
              <a:alpha val="2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DF3B0A51-8D42-AE6B-2B5E-40159C04B062}"/>
              </a:ext>
            </a:extLst>
          </p:cNvPr>
          <p:cNvSpPr/>
          <p:nvPr/>
        </p:nvSpPr>
        <p:spPr>
          <a:xfrm>
            <a:off x="368740" y="2392800"/>
            <a:ext cx="45719" cy="1521228"/>
          </a:xfrm>
          <a:prstGeom prst="rect">
            <a:avLst/>
          </a:prstGeom>
          <a:solidFill>
            <a:srgbClr val="FF653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D290CE85-B423-AD1B-8661-8B6559F4B4B7}"/>
              </a:ext>
            </a:extLst>
          </p:cNvPr>
          <p:cNvSpPr/>
          <p:nvPr/>
        </p:nvSpPr>
        <p:spPr>
          <a:xfrm>
            <a:off x="548638" y="2483250"/>
            <a:ext cx="5134019" cy="13681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FFC85C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Page Inconsistencies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FC85C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: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200" dirty="0">
                <a:solidFill>
                  <a:srgbClr val="FFC85C"/>
                </a:solidFill>
                <a:latin typeface="Calibri" panose="020F0502020204030204"/>
              </a:rPr>
              <a:t>Inconsistent phrasing, page format, and html structure made it difficult to target the correct element containing the data I wanted.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C85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Older reports were rendered as a PDF, which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C85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BeautifulSoup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C85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could not parse.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C85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Occasionally, the page would </a:t>
            </a:r>
            <a:r>
              <a:rPr lang="en-US" sz="1200" dirty="0">
                <a:solidFill>
                  <a:srgbClr val="FFC85C"/>
                </a:solidFill>
                <a:latin typeface="Calibri" panose="020F0502020204030204"/>
              </a:rPr>
              <a:t>time out while attempting to retrieve data from the backend.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C85C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0AE55D0C-9D1D-814F-1A8E-CD2E1AE08330}"/>
              </a:ext>
            </a:extLst>
          </p:cNvPr>
          <p:cNvSpPr/>
          <p:nvPr/>
        </p:nvSpPr>
        <p:spPr>
          <a:xfrm>
            <a:off x="365760" y="4004479"/>
            <a:ext cx="5458570" cy="845261"/>
          </a:xfrm>
          <a:prstGeom prst="rect">
            <a:avLst/>
          </a:prstGeom>
          <a:solidFill>
            <a:srgbClr val="FF653F">
              <a:alpha val="2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7151E308-A129-C3FF-90DE-AA9D6039A6EB}"/>
              </a:ext>
            </a:extLst>
          </p:cNvPr>
          <p:cNvSpPr/>
          <p:nvPr/>
        </p:nvSpPr>
        <p:spPr>
          <a:xfrm>
            <a:off x="368740" y="4004479"/>
            <a:ext cx="45719" cy="845261"/>
          </a:xfrm>
          <a:prstGeom prst="rect">
            <a:avLst/>
          </a:prstGeom>
          <a:solidFill>
            <a:srgbClr val="FF653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9BC0DE62-005A-2386-6EBF-46C0FADA03BB}"/>
              </a:ext>
            </a:extLst>
          </p:cNvPr>
          <p:cNvSpPr/>
          <p:nvPr/>
        </p:nvSpPr>
        <p:spPr>
          <a:xfrm>
            <a:off x="548638" y="4094929"/>
            <a:ext cx="5134019" cy="658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i="1" dirty="0">
                <a:solidFill>
                  <a:srgbClr val="FFC85C"/>
                </a:solidFill>
                <a:latin typeface="Trebuchet MS" pitchFamily="34" charset="0"/>
              </a:rPr>
              <a:t>Slow Retrieval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FC85C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: Since a background browser had to load each page, it took roughly 20 minutes to scrape 2 years worth of data. Using async parallel processing would have helped, although there is probably a better solution out there.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8D4EABF9-7168-4F40-5DE0-C315D85CF048}"/>
              </a:ext>
            </a:extLst>
          </p:cNvPr>
          <p:cNvSpPr/>
          <p:nvPr/>
        </p:nvSpPr>
        <p:spPr>
          <a:xfrm>
            <a:off x="6227852" y="3448307"/>
            <a:ext cx="2676616" cy="1179353"/>
          </a:xfrm>
          <a:prstGeom prst="rect">
            <a:avLst/>
          </a:prstGeom>
          <a:solidFill>
            <a:srgbClr val="452E5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7E4DB71-A985-EDEF-00E0-9A265555D38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150" t="17004" r="51613" b="60994"/>
          <a:stretch>
            <a:fillRect/>
          </a:stretch>
        </p:blipFill>
        <p:spPr>
          <a:xfrm>
            <a:off x="6042229" y="3666968"/>
            <a:ext cx="2719010" cy="1179352"/>
          </a:xfrm>
          <a:prstGeom prst="rect">
            <a:avLst/>
          </a:prstGeom>
        </p:spPr>
      </p:pic>
      <p:sp>
        <p:nvSpPr>
          <p:cNvPr id="28" name="Shape 9">
            <a:extLst>
              <a:ext uri="{FF2B5EF4-FFF2-40B4-BE49-F238E27FC236}">
                <a16:creationId xmlns:a16="http://schemas.microsoft.com/office/drawing/2014/main" id="{38E9C26A-D087-6AEB-1069-40A2C148E42B}"/>
              </a:ext>
            </a:extLst>
          </p:cNvPr>
          <p:cNvSpPr/>
          <p:nvPr/>
        </p:nvSpPr>
        <p:spPr>
          <a:xfrm>
            <a:off x="6037912" y="3596996"/>
            <a:ext cx="2723327" cy="64009"/>
          </a:xfrm>
          <a:prstGeom prst="rect">
            <a:avLst/>
          </a:prstGeom>
          <a:solidFill>
            <a:srgbClr val="FFC8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4014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5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4114800" y="-1371600"/>
            <a:ext cx="7315200" cy="7315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1E104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4389120" cy="73152"/>
          </a:xfrm>
          <a:prstGeom prst="rect">
            <a:avLst/>
          </a:prstGeom>
          <a:solidFill>
            <a:srgbClr val="FF65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1735373"/>
            <a:ext cx="3657600" cy="1544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500" dirty="0">
                <a:solidFill>
                  <a:srgbClr val="FFC8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365760" y="18745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365760" y="34747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Text 13">
            <a:extLst>
              <a:ext uri="{FF2B5EF4-FFF2-40B4-BE49-F238E27FC236}">
                <a16:creationId xmlns:a16="http://schemas.microsoft.com/office/drawing/2014/main" id="{76B7AFF7-453A-070D-70A9-E7A528CD21E1}"/>
              </a:ext>
            </a:extLst>
          </p:cNvPr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>
                <a:solidFill>
                  <a:srgbClr val="A090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 Vaccine Effectiveness  | IS362 Final Project</a:t>
            </a:r>
            <a:endParaRPr lang="en-US" sz="900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9C0172FA-5E35-B835-DF01-422654280217}"/>
              </a:ext>
            </a:extLst>
          </p:cNvPr>
          <p:cNvSpPr/>
          <p:nvPr/>
        </p:nvSpPr>
        <p:spPr>
          <a:xfrm>
            <a:off x="185860" y="635779"/>
            <a:ext cx="4967579" cy="777240"/>
          </a:xfrm>
          <a:prstGeom prst="rect">
            <a:avLst/>
          </a:prstGeom>
          <a:solidFill>
            <a:srgbClr val="FF653F">
              <a:alpha val="2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1A37D67A-DD08-204E-EAAA-099423EC5A02}"/>
              </a:ext>
            </a:extLst>
          </p:cNvPr>
          <p:cNvSpPr/>
          <p:nvPr/>
        </p:nvSpPr>
        <p:spPr>
          <a:xfrm>
            <a:off x="188841" y="635779"/>
            <a:ext cx="72795" cy="777240"/>
          </a:xfrm>
          <a:prstGeom prst="rect">
            <a:avLst/>
          </a:prstGeom>
          <a:solidFill>
            <a:srgbClr val="FF653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5D2E8186-F383-B88F-0383-0CAB3DA44740}"/>
              </a:ext>
            </a:extLst>
          </p:cNvPr>
          <p:cNvSpPr/>
          <p:nvPr/>
        </p:nvSpPr>
        <p:spPr>
          <a:xfrm>
            <a:off x="368740" y="726229"/>
            <a:ext cx="7769420" cy="590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C85C"/>
                </a:solidFill>
                <a:effectLst/>
                <a:uLnTx/>
                <a:uFillTx/>
                <a:latin typeface="Trebuchet MS" pitchFamily="34" charset="0"/>
                <a:ea typeface="+mn-ea"/>
                <a:cs typeface="+mn-cs"/>
              </a:rPr>
              <a:t>Thank You!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4D2838-4B2A-6B30-40E2-AC415E21058E}"/>
              </a:ext>
            </a:extLst>
          </p:cNvPr>
          <p:cNvSpPr txBox="1"/>
          <p:nvPr/>
        </p:nvSpPr>
        <p:spPr>
          <a:xfrm>
            <a:off x="337412" y="4527807"/>
            <a:ext cx="6400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C85C"/>
                </a:solidFill>
                <a:latin typeface="Calibri" panose="020F0502020204030204"/>
              </a:rPr>
              <a:t>Project </a:t>
            </a:r>
            <a:r>
              <a:rPr lang="en-US" sz="1200" dirty="0" err="1">
                <a:solidFill>
                  <a:srgbClr val="FFC85C"/>
                </a:solidFill>
                <a:latin typeface="Calibri" panose="020F0502020204030204"/>
              </a:rPr>
              <a:t>Github</a:t>
            </a:r>
            <a:r>
              <a:rPr lang="en-US" sz="1200" dirty="0">
                <a:solidFill>
                  <a:srgbClr val="FFC85C"/>
                </a:solidFill>
                <a:latin typeface="Calibri" panose="020F0502020204030204"/>
              </a:rPr>
              <a:t>: </a:t>
            </a:r>
            <a:r>
              <a:rPr lang="en-US" sz="1200" dirty="0">
                <a:solidFill>
                  <a:srgbClr val="FFC85C"/>
                </a:solidFill>
              </a:rPr>
              <a:t>https://github.com/TheMartinCrabtree/is362-final-project-flu-vaccine-data-analysis</a:t>
            </a:r>
            <a:endParaRPr lang="en-US" sz="1200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23E80334-49F5-A976-4C87-A5E048A3BA74}"/>
              </a:ext>
            </a:extLst>
          </p:cNvPr>
          <p:cNvSpPr/>
          <p:nvPr/>
        </p:nvSpPr>
        <p:spPr>
          <a:xfrm>
            <a:off x="330098" y="4489132"/>
            <a:ext cx="8813902" cy="335317"/>
          </a:xfrm>
          <a:prstGeom prst="rect">
            <a:avLst/>
          </a:prstGeom>
          <a:solidFill>
            <a:srgbClr val="FF653F">
              <a:alpha val="2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6ED7132F-CDEE-355B-99CD-42F0674D60C3}"/>
              </a:ext>
            </a:extLst>
          </p:cNvPr>
          <p:cNvSpPr/>
          <p:nvPr/>
        </p:nvSpPr>
        <p:spPr>
          <a:xfrm>
            <a:off x="264617" y="4489132"/>
            <a:ext cx="72795" cy="335317"/>
          </a:xfrm>
          <a:prstGeom prst="rect">
            <a:avLst/>
          </a:prstGeom>
          <a:solidFill>
            <a:srgbClr val="FF653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845</Words>
  <Application>Microsoft Office PowerPoint</Application>
  <PresentationFormat>On-screen Show (16:9)</PresentationFormat>
  <Paragraphs>69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Influenza Virus Presentation Template</dc:title>
  <dc:subject>PptxGenJS Presentation</dc:subject>
  <dc:creator>PptxGenJS</dc:creator>
  <cp:lastModifiedBy>Martin Crabtree</cp:lastModifiedBy>
  <cp:revision>16</cp:revision>
  <dcterms:created xsi:type="dcterms:W3CDTF">2026-05-17T21:24:25Z</dcterms:created>
  <dcterms:modified xsi:type="dcterms:W3CDTF">2026-05-18T01:15:39Z</dcterms:modified>
</cp:coreProperties>
</file>